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ompt Engineering vs. Context Engineering — The Twin Pillars of  Intelligent AI Interaction We have all heard of Prompt Engineering, the art  of writing clear, structured instructions for large language models (LLMs)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lat illustration of smart robot chatbot speak with speech bubble  symbolizing AI driven customer service 60284854 Vector Art at Vecteez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1905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339570" y="457200"/>
            <a:ext cx="6849247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1E3C"/>
                </a:solidFill>
              </a:defRPr>
            </a:pPr>
            <a:r>
              <a:rPr sz="5400" dirty="0">
                <a:latin typeface="Brush Script MT" panose="03060802040406070304" pitchFamily="66" charset="0"/>
              </a:rPr>
              <a:t>Prompt Engineering — </a:t>
            </a:r>
            <a:endParaRPr lang="en-US" sz="5400" dirty="0" smtClean="0">
              <a:latin typeface="Brush Script MT" panose="03060802040406070304" pitchFamily="66" charset="0"/>
            </a:endParaRPr>
          </a:p>
          <a:p>
            <a:pPr algn="ctr">
              <a:defRPr sz="3600" b="1">
                <a:solidFill>
                  <a:srgbClr val="1E1E3C"/>
                </a:solidFill>
              </a:defRPr>
            </a:pPr>
            <a:r>
              <a:rPr sz="5400" dirty="0" smtClean="0">
                <a:latin typeface="Brush Script MT" panose="03060802040406070304" pitchFamily="66" charset="0"/>
              </a:rPr>
              <a:t>Crafting </a:t>
            </a:r>
            <a:r>
              <a:rPr sz="5400" dirty="0">
                <a:latin typeface="Brush Script MT" panose="03060802040406070304" pitchFamily="66" charset="0"/>
              </a:rPr>
              <a:t>the Perfect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8359" y="3531866"/>
            <a:ext cx="845166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i="1"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i="1" dirty="0"/>
              <a:t>• Clear, structured prompts to guide AI responses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i="1" dirty="0"/>
              <a:t>• Focuses on how you ask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i="1" dirty="0"/>
              <a:t>• Uses keywords, examples, roles, or formats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i="1" dirty="0"/>
              <a:t>• Example: 'Explain photosynthesis like a teacher for 10-year-olds.'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151+ Thousand Cloud Computing Future Royalty-Free Images, Stock Photos &amp;  Pictures | Shutterstock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"/>
            <a:ext cx="9144000" cy="686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0292" y="337264"/>
            <a:ext cx="8963416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1E3C"/>
                </a:solidFill>
              </a:defRPr>
            </a:pPr>
            <a:r>
              <a:rPr sz="5400" dirty="0">
                <a:solidFill>
                  <a:schemeClr val="bg1"/>
                </a:solidFill>
                <a:latin typeface="Brush Script MT" panose="03060802040406070304" pitchFamily="66" charset="0"/>
              </a:rPr>
              <a:t>Context Engineering — </a:t>
            </a:r>
            <a:endParaRPr lang="en-US" sz="5400" dirty="0" smtClean="0"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ctr">
              <a:defRPr sz="3600" b="1">
                <a:solidFill>
                  <a:srgbClr val="1E1E3C"/>
                </a:solidFill>
              </a:defRPr>
            </a:pPr>
            <a:r>
              <a:rPr sz="5400" dirty="0" smtClean="0">
                <a:solidFill>
                  <a:schemeClr val="bg1"/>
                </a:solidFill>
                <a:latin typeface="Brush Script MT" panose="03060802040406070304" pitchFamily="66" charset="0"/>
              </a:rPr>
              <a:t>Shaping </a:t>
            </a:r>
            <a:r>
              <a:rPr sz="5400" dirty="0">
                <a:solidFill>
                  <a:schemeClr val="bg1"/>
                </a:solidFill>
                <a:latin typeface="Brush Script MT" panose="03060802040406070304" pitchFamily="66" charset="0"/>
              </a:rPr>
              <a:t>What the AI Already Knows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826" y="3135967"/>
            <a:ext cx="8830174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i="1"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i="1" dirty="0">
                <a:solidFill>
                  <a:schemeClr val="bg1"/>
                </a:solidFill>
              </a:rPr>
              <a:t>• Provides background knowledge to AI systems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i="1" dirty="0">
                <a:solidFill>
                  <a:schemeClr val="bg1"/>
                </a:solidFill>
              </a:rPr>
              <a:t>• Focuses on what AI already knows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i="1" dirty="0">
                <a:solidFill>
                  <a:schemeClr val="bg1"/>
                </a:solidFill>
              </a:rPr>
              <a:t>• Ensures consistency across multiple interactions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i="1" dirty="0">
                <a:solidFill>
                  <a:schemeClr val="bg1"/>
                </a:solidFill>
              </a:rPr>
              <a:t>• Example: Uploading a policy document before HR-related </a:t>
            </a:r>
            <a:endParaRPr lang="en-US" sz="2800" i="1" dirty="0" smtClean="0">
              <a:solidFill>
                <a:schemeClr val="bg1"/>
              </a:solidFill>
            </a:endParaRP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i="1" dirty="0" smtClean="0">
                <a:solidFill>
                  <a:schemeClr val="bg1"/>
                </a:solidFill>
              </a:rPr>
              <a:t>queries</a:t>
            </a:r>
            <a:endParaRPr sz="28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53</TotalTime>
  <Words>82</Words>
  <Application>Microsoft Office PowerPoint</Application>
  <PresentationFormat>On-screen Show (4:3)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Brush Script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MRT www.Win2Farsi.com</cp:lastModifiedBy>
  <cp:revision>8</cp:revision>
  <dcterms:created xsi:type="dcterms:W3CDTF">2013-01-27T09:14:16Z</dcterms:created>
  <dcterms:modified xsi:type="dcterms:W3CDTF">2025-11-03T15:17:10Z</dcterms:modified>
  <cp:category/>
</cp:coreProperties>
</file>